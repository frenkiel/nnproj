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C8DA84-4B1E-483B-A6F1-97BA32791AB4}" v="3" dt="2026-01-18T22:34:28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14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ael Pristav" userId="4082bfb2-f029-43a7-8cfb-27ab7ac87932" providerId="ADAL" clId="{2E6ADA71-A03A-4649-A0C8-4F780B1D5F12}"/>
    <pc:docChg chg="custSel addSld modSld">
      <pc:chgData name="Mihael Pristav" userId="4082bfb2-f029-43a7-8cfb-27ab7ac87932" providerId="ADAL" clId="{2E6ADA71-A03A-4649-A0C8-4F780B1D5F12}" dt="2026-01-18T22:40:37.790" v="82" actId="20577"/>
      <pc:docMkLst>
        <pc:docMk/>
      </pc:docMkLst>
      <pc:sldChg chg="modSp mod">
        <pc:chgData name="Mihael Pristav" userId="4082bfb2-f029-43a7-8cfb-27ab7ac87932" providerId="ADAL" clId="{2E6ADA71-A03A-4649-A0C8-4F780B1D5F12}" dt="2026-01-18T22:40:37.790" v="82" actId="20577"/>
        <pc:sldMkLst>
          <pc:docMk/>
          <pc:sldMk cId="2768115527" sldId="260"/>
        </pc:sldMkLst>
        <pc:spChg chg="mod">
          <ac:chgData name="Mihael Pristav" userId="4082bfb2-f029-43a7-8cfb-27ab7ac87932" providerId="ADAL" clId="{2E6ADA71-A03A-4649-A0C8-4F780B1D5F12}" dt="2026-01-18T22:40:37.790" v="82" actId="20577"/>
          <ac:spMkLst>
            <pc:docMk/>
            <pc:sldMk cId="2768115527" sldId="260"/>
            <ac:spMk id="3" creationId="{0F058516-628C-7DAB-6C62-7D7F500C8E48}"/>
          </ac:spMkLst>
        </pc:spChg>
      </pc:sldChg>
      <pc:sldChg chg="addSp modSp new mod">
        <pc:chgData name="Mihael Pristav" userId="4082bfb2-f029-43a7-8cfb-27ab7ac87932" providerId="ADAL" clId="{2E6ADA71-A03A-4649-A0C8-4F780B1D5F12}" dt="2026-01-18T22:36:48.822" v="81" actId="20577"/>
        <pc:sldMkLst>
          <pc:docMk/>
          <pc:sldMk cId="2866339471" sldId="263"/>
        </pc:sldMkLst>
        <pc:spChg chg="mod">
          <ac:chgData name="Mihael Pristav" userId="4082bfb2-f029-43a7-8cfb-27ab7ac87932" providerId="ADAL" clId="{2E6ADA71-A03A-4649-A0C8-4F780B1D5F12}" dt="2026-01-18T22:35:47.305" v="43" actId="1076"/>
          <ac:spMkLst>
            <pc:docMk/>
            <pc:sldMk cId="2866339471" sldId="263"/>
            <ac:spMk id="2" creationId="{A98E11AB-A66D-7586-1C12-2EED02892FD8}"/>
          </ac:spMkLst>
        </pc:spChg>
        <pc:spChg chg="mod">
          <ac:chgData name="Mihael Pristav" userId="4082bfb2-f029-43a7-8cfb-27ab7ac87932" providerId="ADAL" clId="{2E6ADA71-A03A-4649-A0C8-4F780B1D5F12}" dt="2026-01-18T22:36:48.822" v="81" actId="20577"/>
          <ac:spMkLst>
            <pc:docMk/>
            <pc:sldMk cId="2866339471" sldId="263"/>
            <ac:spMk id="3" creationId="{2361F00E-2208-5523-7929-1ED9756FB00F}"/>
          </ac:spMkLst>
        </pc:spChg>
        <pc:picChg chg="add mod">
          <ac:chgData name="Mihael Pristav" userId="4082bfb2-f029-43a7-8cfb-27ab7ac87932" providerId="ADAL" clId="{2E6ADA71-A03A-4649-A0C8-4F780B1D5F12}" dt="2026-01-18T22:35:33.240" v="40" actId="1076"/>
          <ac:picMkLst>
            <pc:docMk/>
            <pc:sldMk cId="2866339471" sldId="263"/>
            <ac:picMk id="4" creationId="{2B7C637F-20B8-CBA9-E676-9CA1D2FABDDD}"/>
          </ac:picMkLst>
        </pc:picChg>
        <pc:picChg chg="add mod">
          <ac:chgData name="Mihael Pristav" userId="4082bfb2-f029-43a7-8cfb-27ab7ac87932" providerId="ADAL" clId="{2E6ADA71-A03A-4649-A0C8-4F780B1D5F12}" dt="2026-01-18T22:35:24.823" v="38" actId="14100"/>
          <ac:picMkLst>
            <pc:docMk/>
            <pc:sldMk cId="2866339471" sldId="263"/>
            <ac:picMk id="5" creationId="{AF35D24A-3200-EEE8-63C1-CEE94AEE2AA3}"/>
          </ac:picMkLst>
        </pc:picChg>
        <pc:picChg chg="add mod">
          <ac:chgData name="Mihael Pristav" userId="4082bfb2-f029-43a7-8cfb-27ab7ac87932" providerId="ADAL" clId="{2E6ADA71-A03A-4649-A0C8-4F780B1D5F12}" dt="2026-01-18T22:35:20.831" v="37" actId="1076"/>
          <ac:picMkLst>
            <pc:docMk/>
            <pc:sldMk cId="2866339471" sldId="263"/>
            <ac:picMk id="6" creationId="{F0307703-8E8A-9359-3D8B-7896CB7979B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CD863-9EEB-BEF3-5A61-56716D60B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24" y="494791"/>
            <a:ext cx="11594463" cy="2616199"/>
          </a:xfrm>
        </p:spPr>
        <p:txBody>
          <a:bodyPr>
            <a:normAutofit/>
          </a:bodyPr>
          <a:lstStyle/>
          <a:p>
            <a:r>
              <a:rPr lang="en-GB" sz="5400" b="1" noProof="0" dirty="0"/>
              <a:t>Detection of AI generated images</a:t>
            </a:r>
            <a:endParaRPr lang="en-GB" sz="54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547FD-9654-CC56-6A0C-C73E38A94D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8" y="4974675"/>
            <a:ext cx="6987645" cy="1388534"/>
          </a:xfrm>
        </p:spPr>
        <p:txBody>
          <a:bodyPr>
            <a:normAutofit fontScale="85000" lnSpcReduction="20000"/>
          </a:bodyPr>
          <a:lstStyle/>
          <a:p>
            <a:r>
              <a:rPr lang="en-GB" noProof="0" dirty="0"/>
              <a:t>Ante Čavar</a:t>
            </a:r>
          </a:p>
          <a:p>
            <a:r>
              <a:rPr lang="en-GB" noProof="0" dirty="0"/>
              <a:t>Fran Lubina</a:t>
            </a:r>
          </a:p>
          <a:p>
            <a:r>
              <a:rPr lang="en-GB" noProof="0" dirty="0"/>
              <a:t>Paula Moničić</a:t>
            </a:r>
          </a:p>
          <a:p>
            <a:r>
              <a:rPr lang="en-GB" noProof="0" dirty="0"/>
              <a:t>Mihael Pristav</a:t>
            </a:r>
          </a:p>
        </p:txBody>
      </p:sp>
    </p:spTree>
    <p:extLst>
      <p:ext uri="{BB962C8B-B14F-4D97-AF65-F5344CB8AC3E}">
        <p14:creationId xmlns:p14="http://schemas.microsoft.com/office/powerpoint/2010/main" val="4019040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1FAC8-BA2A-E62D-27FE-3DEA0DA1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311" y="-19050"/>
            <a:ext cx="10018713" cy="1752599"/>
          </a:xfrm>
        </p:spPr>
        <p:txBody>
          <a:bodyPr/>
          <a:lstStyle/>
          <a:p>
            <a:r>
              <a:rPr lang="en-GB" noProof="0" dirty="0"/>
              <a:t>Ai generated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CF1EE-6A6F-D79D-D68C-0CF30A878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7460" y="1414271"/>
            <a:ext cx="10018713" cy="3124201"/>
          </a:xfrm>
        </p:spPr>
        <p:txBody>
          <a:bodyPr/>
          <a:lstStyle/>
          <a:p>
            <a:r>
              <a:rPr lang="en-GB" noProof="0" dirty="0"/>
              <a:t>AI models for image generation</a:t>
            </a:r>
          </a:p>
          <a:p>
            <a:r>
              <a:rPr lang="en-GB" noProof="0" dirty="0"/>
              <a:t>Rapid advancement</a:t>
            </a:r>
          </a:p>
          <a:p>
            <a:r>
              <a:rPr lang="en-GB" noProof="0" dirty="0"/>
              <a:t>Human noticeable differences</a:t>
            </a:r>
          </a:p>
          <a:p>
            <a:r>
              <a:rPr lang="en-GB" noProof="0" dirty="0"/>
              <a:t>Computer noticeable differences</a:t>
            </a:r>
          </a:p>
        </p:txBody>
      </p:sp>
      <p:pic>
        <p:nvPicPr>
          <p:cNvPr id="1026" name="Picture 2" descr="Shrimp Jesus and other unexpected results of the AI boom">
            <a:extLst>
              <a:ext uri="{FF2B5EF4-FFF2-40B4-BE49-F238E27FC236}">
                <a16:creationId xmlns:a16="http://schemas.microsoft.com/office/drawing/2014/main" id="{61F37051-0E20-1CF8-155A-F38BD1995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281" y="4538472"/>
            <a:ext cx="2566719" cy="2566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8 Viral Images Created by Generative AI Tools - Piktochart">
            <a:extLst>
              <a:ext uri="{FF2B5EF4-FFF2-40B4-BE49-F238E27FC236}">
                <a16:creationId xmlns:a16="http://schemas.microsoft.com/office/drawing/2014/main" id="{9DEA56BC-6102-E0FF-8CE0-ADED698A8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281" y="2001119"/>
            <a:ext cx="2566720" cy="253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5DD782-4EE7-489D-3DF4-2E347D60F1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01"/>
          <a:stretch>
            <a:fillRect/>
          </a:stretch>
        </p:blipFill>
        <p:spPr>
          <a:xfrm>
            <a:off x="9625281" y="-62366"/>
            <a:ext cx="3429238" cy="206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249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A8A64-203C-0BDC-8936-52E3694E1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402336"/>
            <a:ext cx="10018713" cy="1752599"/>
          </a:xfrm>
        </p:spPr>
        <p:txBody>
          <a:bodyPr/>
          <a:lstStyle/>
          <a:p>
            <a:r>
              <a:rPr lang="en-GB" dirty="0"/>
              <a:t>Our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157B6-6B63-8B26-0E94-020445C9A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777" y="1350263"/>
            <a:ext cx="10018713" cy="3124201"/>
          </a:xfrm>
        </p:spPr>
        <p:txBody>
          <a:bodyPr/>
          <a:lstStyle/>
          <a:p>
            <a:r>
              <a:rPr lang="en-GB" dirty="0"/>
              <a:t>Machine learning solution</a:t>
            </a:r>
          </a:p>
          <a:p>
            <a:r>
              <a:rPr lang="en-GB" dirty="0"/>
              <a:t>Binary image classification (ai - natural)</a:t>
            </a:r>
          </a:p>
          <a:p>
            <a:r>
              <a:rPr lang="en-GB" dirty="0"/>
              <a:t>Convolution neural network (CNN)</a:t>
            </a:r>
          </a:p>
          <a:p>
            <a:r>
              <a:rPr lang="en-GB" dirty="0"/>
              <a:t>Based on CIFAKE dataset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DB0FFB-57CE-489B-7A2E-C40B501BB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275" y="3429000"/>
            <a:ext cx="6553200" cy="32972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C13D4C-4D10-A731-3CCE-B980457B43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89" t="7720" r="5907" b="31914"/>
          <a:stretch>
            <a:fillRect/>
          </a:stretch>
        </p:blipFill>
        <p:spPr>
          <a:xfrm>
            <a:off x="7391400" y="1094231"/>
            <a:ext cx="4647691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978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8BC0-D104-CF18-2AF0-84C0DAB09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661" y="-481313"/>
            <a:ext cx="10018713" cy="1752599"/>
          </a:xfrm>
        </p:spPr>
        <p:txBody>
          <a:bodyPr/>
          <a:lstStyle/>
          <a:p>
            <a:r>
              <a:rPr lang="en-GB" dirty="0"/>
              <a:t>Our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34AF3-F9E3-2D13-3975-6213EB631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884" y="2244825"/>
            <a:ext cx="10018713" cy="3124201"/>
          </a:xfrm>
        </p:spPr>
        <p:txBody>
          <a:bodyPr/>
          <a:lstStyle/>
          <a:p>
            <a:r>
              <a:rPr lang="en-GB" dirty="0"/>
              <a:t>CNN with </a:t>
            </a:r>
            <a:r>
              <a:rPr lang="en-GB" dirty="0" err="1"/>
              <a:t>softmax</a:t>
            </a:r>
            <a:r>
              <a:rPr lang="en-GB" dirty="0"/>
              <a:t> activation</a:t>
            </a:r>
          </a:p>
          <a:p>
            <a:r>
              <a:rPr lang="en-GB" dirty="0"/>
              <a:t>CNN with SVM</a:t>
            </a:r>
          </a:p>
          <a:p>
            <a:pPr lvl="1"/>
            <a:r>
              <a:rPr lang="en-GB" dirty="0"/>
              <a:t>Linear kernel</a:t>
            </a:r>
          </a:p>
          <a:p>
            <a:pPr lvl="1"/>
            <a:r>
              <a:rPr lang="en-GB" dirty="0" err="1"/>
              <a:t>Rbf</a:t>
            </a:r>
            <a:r>
              <a:rPr lang="en-GB" dirty="0"/>
              <a:t> kernel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3A9DC-09DB-7055-2FD7-1952540C9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198099" y="43556"/>
            <a:ext cx="2656087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9D08E5-A2FB-958F-BE48-F146B527E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894986" y="3186413"/>
            <a:ext cx="32623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074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46A3-2238-507C-4E8E-B8E3F9D2B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en-GB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58516-628C-7DAB-6C62-7D7F500C8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181" y="3096767"/>
            <a:ext cx="10018713" cy="3124201"/>
          </a:xfrm>
        </p:spPr>
        <p:txBody>
          <a:bodyPr/>
          <a:lstStyle/>
          <a:p>
            <a:r>
              <a:rPr lang="en-GB"/>
              <a:t>100 </a:t>
            </a:r>
            <a:r>
              <a:rPr lang="en-GB" dirty="0"/>
              <a:t>000 images</a:t>
            </a:r>
          </a:p>
          <a:p>
            <a:r>
              <a:rPr lang="en-GB" dirty="0"/>
              <a:t>70:30 split</a:t>
            </a:r>
          </a:p>
          <a:p>
            <a:r>
              <a:rPr lang="en-GB" dirty="0"/>
              <a:t>Resizing of images</a:t>
            </a:r>
          </a:p>
          <a:p>
            <a:r>
              <a:rPr lang="en-GB" dirty="0"/>
              <a:t>Hyperparameter grid search</a:t>
            </a:r>
          </a:p>
          <a:p>
            <a:r>
              <a:rPr lang="en-GB" dirty="0"/>
              <a:t>SVM: C + </a:t>
            </a:r>
            <a:r>
              <a:rPr lang="el-GR" dirty="0"/>
              <a:t>γ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8115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90D06-F16D-6CC1-A1E6-D9217B4AF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465" y="-152400"/>
            <a:ext cx="10018713" cy="1752599"/>
          </a:xfrm>
        </p:spPr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08D35-CE14-C81E-7007-A292570F3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710" y="600074"/>
            <a:ext cx="10018713" cy="3124201"/>
          </a:xfrm>
        </p:spPr>
        <p:txBody>
          <a:bodyPr/>
          <a:lstStyle/>
          <a:p>
            <a:r>
              <a:rPr lang="en-GB" dirty="0"/>
              <a:t>High accuracy</a:t>
            </a:r>
          </a:p>
          <a:p>
            <a:r>
              <a:rPr lang="en-GB" dirty="0"/>
              <a:t>Comparable between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DA83F5-DDF1-CFDF-7002-23A5ED5F9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285" y="3359721"/>
            <a:ext cx="5553075" cy="3331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C8C672-558D-E23F-F96E-059041926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56064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705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643778-7F6C-4E8D-84D1-D5CDB992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22F88D-6907-48AF-B024-346E855E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66F22-055C-8DA6-528B-5A4552F80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571" y="-1047815"/>
            <a:ext cx="3380563" cy="5105400"/>
          </a:xfrm>
        </p:spPr>
        <p:txBody>
          <a:bodyPr>
            <a:normAutofit/>
          </a:bodyPr>
          <a:lstStyle/>
          <a:p>
            <a:pPr algn="l"/>
            <a:r>
              <a:rPr lang="en-GB" sz="5400" dirty="0">
                <a:solidFill>
                  <a:srgbClr val="FFFFFF"/>
                </a:solidFill>
              </a:rPr>
              <a:t>THE END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42748-48B5-4DD0-A06A-A31C74024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6" name="Graphic 5" descr="Badge Question Mark with solid fill">
            <a:extLst>
              <a:ext uri="{FF2B5EF4-FFF2-40B4-BE49-F238E27FC236}">
                <a16:creationId xmlns:a16="http://schemas.microsoft.com/office/drawing/2014/main" id="{D09D3D6C-7527-C273-E47D-E06D81F49F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4187" y="468162"/>
            <a:ext cx="3467232" cy="34672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F519B2-7A10-294B-305B-AD5CE4196E01}"/>
              </a:ext>
            </a:extLst>
          </p:cNvPr>
          <p:cNvSpPr txBox="1"/>
          <p:nvPr/>
        </p:nvSpPr>
        <p:spPr>
          <a:xfrm>
            <a:off x="4250515" y="4016389"/>
            <a:ext cx="547457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31149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E11AB-A66D-7586-1C12-2EED02892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583" y="-614854"/>
            <a:ext cx="10018713" cy="1752599"/>
          </a:xfrm>
        </p:spPr>
        <p:txBody>
          <a:bodyPr/>
          <a:lstStyle/>
          <a:p>
            <a:r>
              <a:rPr lang="en-GB" dirty="0"/>
              <a:t>BONUS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1F00E-2208-5523-7929-1ED9756FB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9703" y="382779"/>
            <a:ext cx="3481585" cy="75496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Confusion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7C637F-20B8-CBA9-E676-9CA1D2FAB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542" y="937220"/>
            <a:ext cx="7324796" cy="5917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35D24A-3200-EEE8-63C1-CEE94AEE2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9052"/>
            <a:ext cx="4323376" cy="34046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307703-8E8A-9359-3D8B-7896CB797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85647"/>
            <a:ext cx="4323377" cy="346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3394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236</TotalTime>
  <Words>97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Corbel</vt:lpstr>
      <vt:lpstr>Parallax</vt:lpstr>
      <vt:lpstr>Detection of AI generated images</vt:lpstr>
      <vt:lpstr>Ai generated images</vt:lpstr>
      <vt:lpstr>Our approach</vt:lpstr>
      <vt:lpstr>Our models</vt:lpstr>
      <vt:lpstr>Training</vt:lpstr>
      <vt:lpstr>Results</vt:lpstr>
      <vt:lpstr>THE END</vt:lpstr>
      <vt:lpstr>BONUS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Mihael Pristav</dc:creator>
  <cp:lastModifiedBy>Mihael Pristav</cp:lastModifiedBy>
  <cp:revision>1</cp:revision>
  <dcterms:created xsi:type="dcterms:W3CDTF">2026-01-18T18:32:01Z</dcterms:created>
  <dcterms:modified xsi:type="dcterms:W3CDTF">2026-01-18T22:40:46Z</dcterms:modified>
</cp:coreProperties>
</file>